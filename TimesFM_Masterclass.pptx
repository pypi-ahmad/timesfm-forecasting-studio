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pypi-ahmad/timesfm-forecasting-studio" TargetMode="External"/><Relationship Id="rId3" Type="http://schemas.openxmlformats.org/officeDocument/2006/relationships/hyperlink" Target="https://github.com/pypi-ahmad/timesfm-forecasting-studio/tree/main/docs/tutoria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58368"/>
            <a:ext cx="2084831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694944"/>
            <a:ext cx="193852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ZERO TO MASTER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6537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TimesFM
Forecasting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6080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This chapter builds the mental model needed to use TimesFM responsibly. You will learn what a time-series foundation model (TSFM) is, how zero-shot forecasting…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1207008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4014215"/>
            <a:ext cx="106070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LOCAL-FIRST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8" y="3977639"/>
            <a:ext cx="1170432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4014215"/>
            <a:ext cx="10241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ZERO-SHOT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977639"/>
            <a:ext cx="1170432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4014215"/>
            <a:ext cx="10241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UNIVARIATE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042415"/>
            <a:ext cx="4041648" cy="431596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4447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7232" y="1444752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forecast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882127" y="3004169"/>
            <a:ext cx="441525" cy="382402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3652" y="3004169"/>
            <a:ext cx="441525" cy="134966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765177" y="2666756"/>
            <a:ext cx="441524" cy="472379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06701" y="2666756"/>
            <a:ext cx="441525" cy="224942"/>
          </a:xfrm>
          <a:prstGeom prst="line">
            <a:avLst/>
          </a:prstGeom>
          <a:ln w="317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648226" y="2464308"/>
            <a:ext cx="441524" cy="427390"/>
          </a:xfrm>
          <a:prstGeom prst="line">
            <a:avLst/>
          </a:prstGeom>
          <a:ln w="3175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89750" y="2464308"/>
            <a:ext cx="441525" cy="112471"/>
          </a:xfrm>
          <a:prstGeom prst="line">
            <a:avLst/>
          </a:prstGeom>
          <a:ln w="3175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531275" y="2239365"/>
            <a:ext cx="441525" cy="337414"/>
          </a:xfrm>
          <a:prstGeom prst="line">
            <a:avLst/>
          </a:prstGeom>
          <a:ln w="3175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818119" y="3322563"/>
            <a:ext cx="128016" cy="12801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59644" y="2940161"/>
            <a:ext cx="128016" cy="12801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01169" y="3075127"/>
            <a:ext cx="128016" cy="12801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2693" y="2602748"/>
            <a:ext cx="128016" cy="12801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4218" y="2827690"/>
            <a:ext cx="128016" cy="12801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25742" y="240030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67267" y="2512771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08792" y="2175357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7" y="4498848"/>
            <a:ext cx="3090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E2E8F0"/>
                </a:solidFill>
                <a:latin typeface="Calibri"/>
              </a:rPr>
              <a:t>CONTEXT  →  HORIZON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199632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Google TimesFM 2.5 · Streamlit · Plotly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4472" y="619963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46504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MODEL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The paradigm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4754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00784"/>
            <a:ext cx="4892040" cy="42245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4379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60A5FA"/>
                </a:solidFill>
                <a:latin typeface="Calibri"/>
              </a:rPr>
              <a:t>Fit per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50592"/>
            <a:ext cx="4379975" cy="3236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ARIMA · Autoregression, differencing, moving-average errors
Prophet · Additive trend, seasonalities, holidays
Fitting · One model per series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2552" y="1700784"/>
            <a:ext cx="4892040" cy="42245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8584" y="1920240"/>
            <a:ext cx="4379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Pretrain once · forecast zero-shot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8584" y="2450592"/>
            <a:ext cx="4379975" cy="3236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Engine · Patched decoder-only foundation model
Reuse · Pretrained checkpoint; zero-shot locally
Uncertainty · Mean and quantiles</a:t>
            </a:r>
          </a:p>
        </p:txBody>
      </p:sp>
      <p:sp>
        <p:nvSpPr>
          <p:cNvPr id="12" name="Oval 11"/>
          <p:cNvSpPr/>
          <p:nvPr/>
        </p:nvSpPr>
        <p:spPr>
          <a:xfrm>
            <a:off x="5623560" y="3026664"/>
            <a:ext cx="960120" cy="9601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88152" y="3182112"/>
            <a:ext cx="6217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5285232"/>
            <a:ext cx="2404872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5192" y="5321808"/>
            <a:ext cx="22585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NO TARGET-DOMAIN FITTING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28816"/>
            <a:ext cx="11018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Source: 01_timesfm_intro.md · sections 3-4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901952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DATA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Core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4754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965960"/>
            <a:ext cx="2286000" cy="334670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212848"/>
            <a:ext cx="493776" cy="49377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340864"/>
            <a:ext cx="4937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71800"/>
            <a:ext cx="1847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840480"/>
            <a:ext cx="184708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All sources eventually become a pandas.DataFrame. The same timestamp and target validation then applies regardless of where the bytes…</a:t>
            </a:r>
          </a:p>
        </p:txBody>
      </p:sp>
      <p:sp>
        <p:nvSpPr>
          <p:cNvPr id="11" name="Chevron 10"/>
          <p:cNvSpPr/>
          <p:nvPr/>
        </p:nvSpPr>
        <p:spPr>
          <a:xfrm>
            <a:off x="2944368" y="3236976"/>
            <a:ext cx="384048" cy="621792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93008" y="1965960"/>
            <a:ext cx="2286000" cy="3346704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12463" y="2212848"/>
            <a:ext cx="493776" cy="49377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2340864"/>
            <a:ext cx="4937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2971800"/>
            <a:ext cx="1847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Datetime parsing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3840480"/>
            <a:ext cx="184708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Select the date and target, parse timestamps, sort, and validate an exact regular grid.</a:t>
            </a:r>
          </a:p>
        </p:txBody>
      </p:sp>
      <p:sp>
        <p:nvSpPr>
          <p:cNvPr id="17" name="Chevron 16"/>
          <p:cNvSpPr/>
          <p:nvPr/>
        </p:nvSpPr>
        <p:spPr>
          <a:xfrm>
            <a:off x="5852160" y="3236976"/>
            <a:ext cx="384048" cy="621792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286000" cy="334670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20256" y="2212848"/>
            <a:ext cx="493776" cy="49377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6" y="2340864"/>
            <a:ext cx="4937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971800"/>
            <a:ext cx="1847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TimesFM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3840480"/>
            <a:ext cx="184708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alibri"/>
              </a:rPr>
              <a:t>The checkpoint is loaded lazily and cached as a Streamlit resource. A process holds one model instance and serializes compilation/inference…</a:t>
            </a:r>
          </a:p>
        </p:txBody>
      </p:sp>
      <p:sp>
        <p:nvSpPr>
          <p:cNvPr id="23" name="Chevron 22"/>
          <p:cNvSpPr/>
          <p:nvPr/>
        </p:nvSpPr>
        <p:spPr>
          <a:xfrm>
            <a:off x="8759952" y="3236976"/>
            <a:ext cx="384048" cy="621792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08592" y="1965960"/>
            <a:ext cx="2286000" cy="3346704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28048" y="2212848"/>
            <a:ext cx="493776" cy="49377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8048" y="2340864"/>
            <a:ext cx="4937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971800"/>
            <a:ext cx="1847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Plotly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3840480"/>
            <a:ext cx="184708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Attach future timestamps and render the q50 path with the q10-q90 uncertainty band.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9432" y="5623560"/>
            <a:ext cx="2962656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2584" y="5660136"/>
            <a:ext cx="28163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ONE VALIDATED UNIVARIATE SERIES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1018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Sources: 03_data_engineering.md · 04_forecasting_mastery.md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824228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6779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BRING YOUR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Ingestion and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4754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28800"/>
            <a:ext cx="1627632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84831"/>
            <a:ext cx="12618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61488"/>
            <a:ext cx="12618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Portable and inspectable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096512"/>
            <a:ext cx="12618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Delimiters, locale-specific numbers, ambiguous 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3744" y="1828800"/>
            <a:ext cx="1627632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2084831"/>
            <a:ext cx="12618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Parquet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761488"/>
            <a:ext cx="12618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Typed, compressed, efficient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4096512"/>
            <a:ext cx="12618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Requires valid Parquet signature and PyArrow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1828800"/>
            <a:ext cx="1627632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84831"/>
            <a:ext cx="12618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761488"/>
            <a:ext cx="12618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Familiar multi-sheet workbooks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4096512"/>
            <a:ext cx="12618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Formula results, merged headers, workbook expansion in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828800"/>
            <a:ext cx="239572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048256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Kaggle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578608"/>
            <a:ext cx="1883664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Configure either KAGGLEAPITOKEN or the legacy KAGGLEUSERNAME plus KAGGLEKEY. Never paste a credential into a dataset handle.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828800"/>
            <a:ext cx="2395728" cy="3429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2048256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Hugging 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578608"/>
            <a:ext cx="1883664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Public datasets can be searched without a token. Private or gated repositories need HFTOKEN with read access.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5596128"/>
            <a:ext cx="1261872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5632704"/>
            <a:ext cx="11155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LOCAL UPLOADS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29968" y="5596128"/>
            <a:ext cx="1755648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632704"/>
            <a:ext cx="16093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PUBLIC HTTP/S URLS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50208" y="5596128"/>
            <a:ext cx="2176272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5632704"/>
            <a:ext cx="202996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CREDENTIAL-SAFE PROVIDERS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1018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Source: 03_data_engineering.md · sections 2, 4, 7,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66878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5224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TUNE AND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Interactive studio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4754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737360"/>
            <a:ext cx="6601968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29968"/>
            <a:ext cx="2011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14B8A6"/>
                </a:solidFill>
                <a:latin typeface="Calibri"/>
              </a:rPr>
              <a:t>Context 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2788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How much recent history the model receives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75104"/>
            <a:ext cx="2011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168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688336"/>
            <a:ext cx="26334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One weekly 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3310128"/>
            <a:ext cx="5504688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94176"/>
            <a:ext cx="2011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60A5FA"/>
                </a:solidFill>
                <a:latin typeface="Calibri"/>
              </a:rPr>
              <a:t>Horizon 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87952"/>
            <a:ext cx="2788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How many future periods the model 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39312"/>
            <a:ext cx="2011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4352544"/>
            <a:ext cx="26334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One 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5138928"/>
            <a:ext cx="1664208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175504"/>
            <a:ext cx="151790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INTERACTIVE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737360"/>
            <a:ext cx="4096512" cy="22677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1892807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4B8A6"/>
                </a:solidFill>
                <a:latin typeface="Calibri"/>
              </a:rPr>
              <a:t>MANUAL SIMULATOR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2231136"/>
            <a:ext cx="3657600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Courier New"/>
              </a:rPr>
              <a:t>10, 12, 15, 14, 18, 21, 19, 24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4315968"/>
            <a:ext cx="4096512" cy="19019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4535424"/>
            <a:ext cx="3584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Fast-path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5065776"/>
            <a:ext cx="3584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alibri"/>
              </a:rPr>
              <a:t>1. Splits on commas and line breaks.
2. Ignores surrounding whitespace and empty tokens.
3. Requires at least two finite numeric values.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28816"/>
            <a:ext cx="11018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Source: 04_forecasting_mastery.md · sections 2, 3, 8,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46504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THREE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Local setup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4754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1737360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874519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810512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487168"/>
            <a:ext cx="3328416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42616"/>
            <a:ext cx="288950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4B8A6"/>
                </a:solidFill>
                <a:latin typeface="Calibri"/>
              </a:rPr>
              <a:t>CLONE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80944"/>
            <a:ext cx="2889504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Courier New"/>
              </a:rPr>
              <a:t>git clone https://github.com/pypi-ahmad/timesfm-forecasting-studio
Set-Location timesfm-forecasting-studio</a:t>
            </a:r>
          </a:p>
        </p:txBody>
      </p:sp>
      <p:sp>
        <p:nvSpPr>
          <p:cNvPr id="12" name="Chevron 11"/>
          <p:cNvSpPr/>
          <p:nvPr/>
        </p:nvSpPr>
        <p:spPr>
          <a:xfrm>
            <a:off x="4041648" y="3127248"/>
            <a:ext cx="292608" cy="5029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25696" y="1737360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874519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10512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Create environment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487168"/>
            <a:ext cx="3328416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642616"/>
            <a:ext cx="288950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4B8A6"/>
                </a:solidFill>
                <a:latin typeface="Calibri"/>
              </a:rPr>
              <a:t>CREATE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980944"/>
            <a:ext cx="2889504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Courier New"/>
              </a:rPr>
              <a:t>uv python install 3.14
uv sync --locked --group dev</a:t>
            </a:r>
          </a:p>
        </p:txBody>
      </p:sp>
      <p:sp>
        <p:nvSpPr>
          <p:cNvPr id="19" name="Chevron 18"/>
          <p:cNvSpPr/>
          <p:nvPr/>
        </p:nvSpPr>
        <p:spPr>
          <a:xfrm>
            <a:off x="7863840" y="3127248"/>
            <a:ext cx="292608" cy="5029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47888" y="1737360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874519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1810512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2487168"/>
            <a:ext cx="3328416" cy="1965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2642616"/>
            <a:ext cx="288950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4B8A6"/>
                </a:solidFill>
                <a:latin typeface="Calibri"/>
              </a:rPr>
              <a:t>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2980944"/>
            <a:ext cx="2889504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Courier New"/>
              </a:rPr>
              <a:t>uv run streamlit run app.py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4892040"/>
            <a:ext cx="10991088" cy="1243584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51846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GPU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102352"/>
            <a:ext cx="91074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ourier New"/>
              </a:rPr>
              <a:t>"import torch; print({'torch': torch.__version__, 'cuda_build': torch.version.cuda, 'cuda_available': torch.cuda.is_available(), 'devices': torch.cuda.device_count()})"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28816"/>
            <a:ext cx="11018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Source: 02_local_installation.md · sections 3, 4,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46504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OPERATE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Performance and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4754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685032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31363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Calibri"/>
              </a:rPr>
              <a:t>16,384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9504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rounded context + horizon limit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75887"/>
            <a:ext cx="3044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B8A6"/>
                </a:solidFill>
                <a:latin typeface="Calibri"/>
              </a:rPr>
              <a:t>Ccompile = 32⌈C / 32⌉
Hcompile = 128⌈H / 128⌉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1872" y="5093208"/>
            <a:ext cx="2359152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5129784"/>
            <a:ext cx="22128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PATCH BOUNDARIES MATTER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737360"/>
            <a:ext cx="6976872" cy="12618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82896" y="2066543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82896" y="2185415"/>
            <a:ext cx="512064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1920240"/>
            <a:ext cx="5468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Missing or uninitialized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2331720"/>
            <a:ext cx="5468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Calibri"/>
              </a:rPr>
              <a:t>Reject. Internal gaps are interpolated only when both anchors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255263"/>
            <a:ext cx="6976872" cy="12618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82896" y="3584447"/>
            <a:ext cx="512064" cy="51206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3703320"/>
            <a:ext cx="512064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0992" y="3438144"/>
            <a:ext cx="5468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B7185"/>
                </a:solidFill>
                <a:latin typeface="Calibri"/>
              </a:rPr>
              <a:t>GPU out of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0992" y="3849624"/>
            <a:ext cx="5468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alibri"/>
              </a:rPr>
              <a:t>⚠️ Do not respond to OOM by silently truncating source data outside the selected context. Make parameter changes explicit so forecasts remain reproducible.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4773168"/>
            <a:ext cx="6976872" cy="12618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82896" y="5102352"/>
            <a:ext cx="512064" cy="51206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82896" y="5221224"/>
            <a:ext cx="512064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4956048"/>
            <a:ext cx="5468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Calibri"/>
              </a:rPr>
              <a:t>Frequency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5367528"/>
            <a:ext cx="54681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Calibri"/>
              </a:rPr>
              <a:t>Frequency validates timestamps and creates the future index; TimesFM 2.5 does not receive a frequency token.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1018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Sources: 03_data_engineering.md · 04_forecasting_mastery.md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21792"/>
            <a:ext cx="1664208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658368"/>
            <a:ext cx="151790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YOUR NEXT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6812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Build the baseline.
Challenge the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6172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Move from a clean time series to a reproducible zero-shot experiment.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3822191"/>
            <a:ext cx="1956816" cy="1490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40416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400507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507992"/>
            <a:ext cx="1554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alibri"/>
              </a:rPr>
              <a:t>Get the local-first studio running.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3822191"/>
            <a:ext cx="1956816" cy="1490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4" y="40416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400507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4507992"/>
            <a:ext cx="1554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Load a regular series and tune C versus 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3822191"/>
            <a:ext cx="1956816" cy="1490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40416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1576" y="400507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4507992"/>
            <a:ext cx="1554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Compare against naive and statistical baselines.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261872"/>
            <a:ext cx="3703320" cy="448056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664208"/>
            <a:ext cx="30266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PROJECT LINKS</a:t>
            </a:r>
          </a:p>
        </p:txBody>
      </p:sp>
      <p:sp>
        <p:nvSpPr>
          <p:cNvPr id="20" name="TextBox 19">
            <a:hlinkClick r:id="rId2"/>
          </p:cNvPr>
          <p:cNvSpPr txBox="1"/>
          <p:nvPr/>
        </p:nvSpPr>
        <p:spPr>
          <a:xfrm>
            <a:off x="8156448" y="2267712"/>
            <a:ext cx="2880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14B8A6"/>
                </a:solidFill>
                <a:latin typeface="Calibri"/>
              </a:rPr>
              <a:t>GitHub repository ↗</a:t>
            </a:r>
          </a:p>
        </p:txBody>
      </p:sp>
      <p:sp>
        <p:nvSpPr>
          <p:cNvPr id="21" name="TextBox 20">
            <a:hlinkClick r:id="rId2"/>
          </p:cNvPr>
          <p:cNvSpPr txBox="1"/>
          <p:nvPr/>
        </p:nvSpPr>
        <p:spPr>
          <a:xfrm>
            <a:off x="8156448" y="2761488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https://github.com/pypi-ahmad/timesfm-forecasting-studio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3364992"/>
            <a:ext cx="288036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8156448" y="3767328"/>
            <a:ext cx="2880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60A5FA"/>
                </a:solidFill>
                <a:latin typeface="Calibri"/>
              </a:rPr>
              <a:t>Course documentation ↗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8156448" y="4270248"/>
            <a:ext cx="2880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Calibri"/>
              </a:rPr>
              <a:t>https://github.com/pypi-ahmad/timesfm-forecasting-studio/tree/main/docs/tutorial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5047488"/>
            <a:ext cx="269748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5084064"/>
            <a:ext cx="2551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ZERO-SHOT ≠ ZERO-VALIDATION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472" y="619963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TimesFM Forecasting Studio</dc:title>
  <dc:subject>Zero to Master Course</dc:subject>
  <dc:creator>TimesFM Forecasting Studio</dc:creator>
  <cp:keywords>TimesFM, forecasting, Streamlit, time series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